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.png"/><Relationship Id="rId14" Type="http://schemas.openxmlformats.org/officeDocument/2006/relationships/image" Target="../media/image-7-2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.png"/><Relationship Id="rId18" Type="http://schemas.openxmlformats.org/officeDocument/2006/relationships/image" Target="../media/image-7-2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6.png"/><Relationship Id="rId9" Type="http://schemas.openxmlformats.org/officeDocument/2006/relationships/image" Target="../media/image-9-7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image" Target="../media/image-9-6.png"/><Relationship Id="rId13" Type="http://schemas.openxmlformats.org/officeDocument/2006/relationships/image" Target="../media/image-9-7.svg"/><Relationship Id="rId14" Type="http://schemas.openxmlformats.org/officeDocument/2006/relationships/image" Target="../media/image-9-6.png"/><Relationship Id="rId15" Type="http://schemas.openxmlformats.org/officeDocument/2006/relationships/image" Target="../media/image-9-7.svg"/><Relationship Id="rId16" Type="http://schemas.openxmlformats.org/officeDocument/2006/relationships/image" Target="../media/image-9-6.png"/><Relationship Id="rId17" Type="http://schemas.openxmlformats.org/officeDocument/2006/relationships/image" Target="../media/image-9-7.svg"/><Relationship Id="rId18" Type="http://schemas.openxmlformats.org/officeDocument/2006/relationships/image" Target="../media/image-9-6.png"/><Relationship Id="rId19" Type="http://schemas.openxmlformats.org/officeDocument/2006/relationships/image" Target="../media/image-9-7.svg"/><Relationship Id="rId20" Type="http://schemas.openxmlformats.org/officeDocument/2006/relationships/image" Target="../media/image-9-10.png"/><Relationship Id="rId21" Type="http://schemas.openxmlformats.org/officeDocument/2006/relationships/image" Target="../media/image-9-11.sv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705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PrepPilot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324465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Adaptive Exam Preparation System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40143" y="3972322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"From knowing what to study to knowing what to study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NEXT.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759696"/>
            <a:ext cx="25399" cy="727670"/>
          </a:xfrm>
          <a:prstGeom prst="roundRect">
            <a:avLst>
              <a:gd name="adj" fmla="val 50001"/>
            </a:avLst>
          </a:prstGeom>
          <a:solidFill>
            <a:srgbClr val="AC9EF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79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Students don't lack content. They lack 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direction.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49673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587599"/>
            <a:ext cx="5249930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701304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Syllabus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171898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409825"/>
            <a:ext cx="5249930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523530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Huge Notes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2994124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3232051"/>
            <a:ext cx="5249930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345755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Search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3816350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4054277"/>
            <a:ext cx="5249930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167981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Manual Revision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638576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4876502"/>
            <a:ext cx="5249930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990207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Practice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5460802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1475" y="5698728"/>
            <a:ext cx="5249930" cy="1905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5812433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Discover Weaknesses </a:t>
            </a:r>
            <a:pPr algn="l" indent="0" marL="0">
              <a:lnSpc>
                <a:spcPct val="104000"/>
              </a:lnSpc>
              <a:buNone/>
            </a:pPr>
            <a:r>
              <a:rPr lang="en-US" sz="1450" i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 Late</a:t>
            </a:r>
            <a:endParaRPr lang="en-US" sz="14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640" y="1349673"/>
            <a:ext cx="2564443" cy="8129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533094" y="1519932"/>
            <a:ext cx="214773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Information Overload</a:t>
            </a:r>
            <a:endParaRPr lang="en-US" sz="14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2028" y="1349673"/>
            <a:ext cx="2564542" cy="81299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218481" y="1519932"/>
            <a:ext cx="2147834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 Personalized Strategy</a:t>
            </a:r>
            <a:endParaRPr lang="en-US" sz="14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640" y="2283619"/>
            <a:ext cx="2564443" cy="81299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33094" y="2453878"/>
            <a:ext cx="214773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Manual Revision</a:t>
            </a:r>
            <a:endParaRPr lang="en-US" sz="14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72028" y="2283619"/>
            <a:ext cx="2564542" cy="81299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18481" y="2453878"/>
            <a:ext cx="2147834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Difficult Weakness Identification</a:t>
            </a:r>
            <a:endParaRPr lang="en-US" sz="14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640" y="3217565"/>
            <a:ext cx="2564443" cy="81299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533094" y="3387824"/>
            <a:ext cx="2147735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Inefficient Exam Preparation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042"/>
            <a:ext cx="10868745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Existing Solutions </a:t>
            </a:r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&amp; The Gap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66490"/>
            <a:ext cx="1147833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tools provide powerful individual capabilities. PrepPilot integrates them into an </a:t>
            </a:r>
            <a:pPr algn="l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exam-oriented adaptive preparation workflow.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23268"/>
            <a:ext cx="5042369" cy="5042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28797" y="3160713"/>
            <a:ext cx="2625362" cy="555327"/>
          </a:xfrm>
          <a:prstGeom prst="roundRect">
            <a:avLst>
              <a:gd name="adj" fmla="val 2804"/>
            </a:avLst>
          </a:prstGeom>
          <a:solidFill>
            <a:srgbClr val="4C5052"/>
          </a:solidFill>
          <a:ln/>
        </p:spPr>
      </p:sp>
      <p:sp>
        <p:nvSpPr>
          <p:cNvPr id="6" name="Text 3"/>
          <p:cNvSpPr/>
          <p:nvPr/>
        </p:nvSpPr>
        <p:spPr>
          <a:xfrm>
            <a:off x="6332578" y="3264495"/>
            <a:ext cx="2417801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General AI Assistants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32578" y="3483670"/>
            <a:ext cx="24178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Q&amp;A — no exam focus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8911109" y="3160713"/>
            <a:ext cx="2625461" cy="555327"/>
          </a:xfrm>
          <a:prstGeom prst="roundRect">
            <a:avLst>
              <a:gd name="adj" fmla="val 2804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9014889" y="3264495"/>
            <a:ext cx="2417900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Document AI Tools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014889" y="3483670"/>
            <a:ext cx="24179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Summarization — no performance tracking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28797" y="3772991"/>
            <a:ext cx="2625362" cy="555327"/>
          </a:xfrm>
          <a:prstGeom prst="roundRect">
            <a:avLst>
              <a:gd name="adj" fmla="val 2804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6332578" y="3876774"/>
            <a:ext cx="2417801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Traditional Exam Platforms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32578" y="4095948"/>
            <a:ext cx="24178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banks — no personalization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911109" y="3772991"/>
            <a:ext cx="2625461" cy="555327"/>
          </a:xfrm>
          <a:prstGeom prst="roundRect">
            <a:avLst>
              <a:gd name="adj" fmla="val 2804"/>
            </a:avLst>
          </a:prstGeom>
          <a:solidFill>
            <a:srgbClr val="4C5052"/>
          </a:solidFill>
          <a:ln/>
        </p:spPr>
      </p:sp>
      <p:sp>
        <p:nvSpPr>
          <p:cNvPr id="15" name="Text 12"/>
          <p:cNvSpPr/>
          <p:nvPr/>
        </p:nvSpPr>
        <p:spPr>
          <a:xfrm>
            <a:off x="9014889" y="3876774"/>
            <a:ext cx="2417900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PrepPilot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014889" y="4095948"/>
            <a:ext cx="24179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Adaptive, exam-oriented, integrated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10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Our 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Solution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47986"/>
            <a:ext cx="756028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8447" y="1499195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Inputs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538447" y="1856383"/>
            <a:ext cx="437295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Syllabus · Study Material · Questions · Student Performance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255242"/>
            <a:ext cx="756028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8447" y="2406452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PrepPilot AI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538447" y="2763639"/>
            <a:ext cx="437295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intelligence engine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62498"/>
            <a:ext cx="756028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8447" y="3313708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Personalized Preparation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538447" y="3670895"/>
            <a:ext cx="437295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to every student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286640" y="1347986"/>
            <a:ext cx="2564443" cy="1113234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3" name="Shape 8"/>
          <p:cNvSpPr/>
          <p:nvPr/>
        </p:nvSpPr>
        <p:spPr>
          <a:xfrm>
            <a:off x="6437846" y="1499195"/>
            <a:ext cx="453617" cy="45362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2561" y="1623913"/>
            <a:ext cx="204088" cy="2040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37846" y="2073771"/>
            <a:ext cx="2262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Chat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8972028" y="1347986"/>
            <a:ext cx="2564542" cy="1113234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7" name="Shape 11"/>
          <p:cNvSpPr/>
          <p:nvPr/>
        </p:nvSpPr>
        <p:spPr>
          <a:xfrm>
            <a:off x="9123233" y="1499195"/>
            <a:ext cx="453617" cy="45362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7948" y="1623913"/>
            <a:ext cx="204088" cy="20409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23233" y="2073771"/>
            <a:ext cx="226213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Summaries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6286640" y="2582168"/>
            <a:ext cx="2564443" cy="1113234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21" name="Shape 14"/>
          <p:cNvSpPr/>
          <p:nvPr/>
        </p:nvSpPr>
        <p:spPr>
          <a:xfrm>
            <a:off x="6437846" y="2733377"/>
            <a:ext cx="453617" cy="45362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561" y="2858095"/>
            <a:ext cx="204088" cy="20409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37846" y="3307953"/>
            <a:ext cx="2262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MCQs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8972028" y="2582168"/>
            <a:ext cx="2564542" cy="1113234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25" name="Shape 17"/>
          <p:cNvSpPr/>
          <p:nvPr/>
        </p:nvSpPr>
        <p:spPr>
          <a:xfrm>
            <a:off x="9123233" y="2733377"/>
            <a:ext cx="453617" cy="45362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47948" y="2858095"/>
            <a:ext cx="204088" cy="20409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23233" y="3307953"/>
            <a:ext cx="226213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Flashcards</a:t>
            </a:r>
            <a:endParaRPr lang="en-US" sz="1450" dirty="0"/>
          </a:p>
        </p:txBody>
      </p:sp>
      <p:sp>
        <p:nvSpPr>
          <p:cNvPr id="28" name="Shape 19"/>
          <p:cNvSpPr/>
          <p:nvPr/>
        </p:nvSpPr>
        <p:spPr>
          <a:xfrm>
            <a:off x="6286640" y="3816350"/>
            <a:ext cx="2564443" cy="1113234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29" name="Shape 20"/>
          <p:cNvSpPr/>
          <p:nvPr/>
        </p:nvSpPr>
        <p:spPr>
          <a:xfrm>
            <a:off x="6437846" y="3967559"/>
            <a:ext cx="453617" cy="45362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62561" y="4092277"/>
            <a:ext cx="204088" cy="204093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437846" y="4542135"/>
            <a:ext cx="2262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Revision</a:t>
            </a:r>
            <a:endParaRPr lang="en-US" sz="1450" dirty="0"/>
          </a:p>
        </p:txBody>
      </p:sp>
      <p:sp>
        <p:nvSpPr>
          <p:cNvPr id="32" name="Shape 22"/>
          <p:cNvSpPr/>
          <p:nvPr/>
        </p:nvSpPr>
        <p:spPr>
          <a:xfrm>
            <a:off x="8972028" y="3816350"/>
            <a:ext cx="2564542" cy="1113234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33" name="Shape 23"/>
          <p:cNvSpPr/>
          <p:nvPr/>
        </p:nvSpPr>
        <p:spPr>
          <a:xfrm>
            <a:off x="9123233" y="3967559"/>
            <a:ext cx="453617" cy="45362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47948" y="4092277"/>
            <a:ext cx="204088" cy="204093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123233" y="4542135"/>
            <a:ext cx="226213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Weakness Analysis</a:t>
            </a:r>
            <a:endParaRPr lang="en-US" sz="1450" dirty="0"/>
          </a:p>
        </p:txBody>
      </p:sp>
      <p:sp>
        <p:nvSpPr>
          <p:cNvPr id="36" name="Shape 25"/>
          <p:cNvSpPr/>
          <p:nvPr/>
        </p:nvSpPr>
        <p:spPr>
          <a:xfrm>
            <a:off x="6286640" y="5050532"/>
            <a:ext cx="5249930" cy="1113234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37" name="Shape 26"/>
          <p:cNvSpPr/>
          <p:nvPr/>
        </p:nvSpPr>
        <p:spPr>
          <a:xfrm>
            <a:off x="6437846" y="5201741"/>
            <a:ext cx="453617" cy="45362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62561" y="5326459"/>
            <a:ext cx="204088" cy="204093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437846" y="5776317"/>
            <a:ext cx="494751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Adaptive Practice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98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Current </a:t>
            </a:r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</a:t>
            </a:r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— Working Prototype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2478584"/>
            <a:ext cx="4866161" cy="21897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7287" y="2585323"/>
            <a:ext cx="851551" cy="13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2437287" y="2754350"/>
            <a:ext cx="851551" cy="17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study documents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3279480" y="4227641"/>
            <a:ext cx="856230" cy="13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Process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79480" y="4396669"/>
            <a:ext cx="856230" cy="178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and parse content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112316" y="2568946"/>
            <a:ext cx="851551" cy="13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Chunking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112316" y="2737974"/>
            <a:ext cx="851551" cy="178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into meaningful segments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954509" y="4227641"/>
            <a:ext cx="851551" cy="131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Embeddings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954509" y="4396669"/>
            <a:ext cx="851551" cy="178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semantic vectors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61475" y="4772521"/>
            <a:ext cx="756127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functional RAG pipeline powering real study features today.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42163" y="1242516"/>
            <a:ext cx="3594308" cy="743744"/>
          </a:xfrm>
          <a:prstGeom prst="roundRect">
            <a:avLst>
              <a:gd name="adj" fmla="val 2669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8074418" y="1374775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React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74418" y="1674019"/>
            <a:ext cx="332979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42163" y="2078831"/>
            <a:ext cx="3594308" cy="743744"/>
          </a:xfrm>
          <a:prstGeom prst="roundRect">
            <a:avLst>
              <a:gd name="adj" fmla="val 2669"/>
            </a:avLst>
          </a:prstGeom>
          <a:solidFill>
            <a:srgbClr val="4C5052"/>
          </a:solidFill>
          <a:ln/>
        </p:spPr>
      </p:sp>
      <p:sp>
        <p:nvSpPr>
          <p:cNvPr id="17" name="Text 14"/>
          <p:cNvSpPr/>
          <p:nvPr/>
        </p:nvSpPr>
        <p:spPr>
          <a:xfrm>
            <a:off x="8074418" y="2211090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FastAPI + Python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74418" y="2510334"/>
            <a:ext cx="332979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42163" y="2915146"/>
            <a:ext cx="3594308" cy="743744"/>
          </a:xfrm>
          <a:prstGeom prst="roundRect">
            <a:avLst>
              <a:gd name="adj" fmla="val 2669"/>
            </a:avLst>
          </a:prstGeom>
          <a:solidFill>
            <a:srgbClr val="4C5052"/>
          </a:solidFill>
          <a:ln/>
        </p:spPr>
      </p:sp>
      <p:sp>
        <p:nvSpPr>
          <p:cNvPr id="20" name="Text 17"/>
          <p:cNvSpPr/>
          <p:nvPr/>
        </p:nvSpPr>
        <p:spPr>
          <a:xfrm>
            <a:off x="8074418" y="3047405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Gemini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74418" y="3346648"/>
            <a:ext cx="332979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42163" y="3751461"/>
            <a:ext cx="3594308" cy="743744"/>
          </a:xfrm>
          <a:prstGeom prst="roundRect">
            <a:avLst>
              <a:gd name="adj" fmla="val 2669"/>
            </a:avLst>
          </a:prstGeom>
          <a:solidFill>
            <a:srgbClr val="4C5052"/>
          </a:solidFill>
          <a:ln/>
        </p:spPr>
      </p:sp>
      <p:sp>
        <p:nvSpPr>
          <p:cNvPr id="23" name="Text 20"/>
          <p:cNvSpPr/>
          <p:nvPr/>
        </p:nvSpPr>
        <p:spPr>
          <a:xfrm>
            <a:off x="8074418" y="3883720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Sentence Transformers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74418" y="4182963"/>
            <a:ext cx="332979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942163" y="4587776"/>
            <a:ext cx="3594308" cy="743744"/>
          </a:xfrm>
          <a:prstGeom prst="roundRect">
            <a:avLst>
              <a:gd name="adj" fmla="val 2669"/>
            </a:avLst>
          </a:prstGeom>
          <a:solidFill>
            <a:srgbClr val="4C5052"/>
          </a:solidFill>
          <a:ln/>
        </p:spPr>
      </p:sp>
      <p:sp>
        <p:nvSpPr>
          <p:cNvPr id="26" name="Text 23"/>
          <p:cNvSpPr/>
          <p:nvPr/>
        </p:nvSpPr>
        <p:spPr>
          <a:xfrm>
            <a:off x="8074418" y="4720034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ChromaDB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074418" y="5019278"/>
            <a:ext cx="332979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42163" y="5424091"/>
            <a:ext cx="3594308" cy="743744"/>
          </a:xfrm>
          <a:prstGeom prst="roundRect">
            <a:avLst>
              <a:gd name="adj" fmla="val 2669"/>
            </a:avLst>
          </a:prstGeom>
          <a:solidFill>
            <a:srgbClr val="4C5052"/>
          </a:solidFill>
          <a:ln/>
        </p:spPr>
      </p:sp>
      <p:sp>
        <p:nvSpPr>
          <p:cNvPr id="29" name="Text 26"/>
          <p:cNvSpPr/>
          <p:nvPr/>
        </p:nvSpPr>
        <p:spPr>
          <a:xfrm>
            <a:off x="8074418" y="5556349"/>
            <a:ext cx="332979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SQLite + Docker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074418" y="5855593"/>
            <a:ext cx="332979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146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From AI Content Generation → </a:t>
            </a:r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Adaptive Exam Intelligence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351286"/>
            <a:ext cx="355253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Study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4069" y="1998563"/>
            <a:ext cx="3423557" cy="34236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6706" y="2457748"/>
            <a:ext cx="254490" cy="2544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77682" y="2351286"/>
            <a:ext cx="355253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Practice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069" y="1998563"/>
            <a:ext cx="3423557" cy="342364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7082" y="2663726"/>
            <a:ext cx="254490" cy="25449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147838" y="3577530"/>
            <a:ext cx="33823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</a:t>
            </a:r>
            <a:endParaRPr lang="en-US" sz="16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4069" y="1998563"/>
            <a:ext cx="3423557" cy="3423642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8929" y="3789065"/>
            <a:ext cx="254490" cy="254496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977682" y="4803775"/>
            <a:ext cx="355253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Weakness</a:t>
            </a:r>
            <a:endParaRPr lang="en-US" sz="165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4069" y="1998563"/>
            <a:ext cx="3423557" cy="3423642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80301" y="4708327"/>
            <a:ext cx="254490" cy="254496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661475" y="4803775"/>
            <a:ext cx="355253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Prioritize &amp; Adapt</a:t>
            </a:r>
            <a:endParaRPr lang="en-US" sz="1650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4069" y="1998563"/>
            <a:ext cx="3423557" cy="3423642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99925" y="4502348"/>
            <a:ext cx="254490" cy="254496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661475" y="3577530"/>
            <a:ext cx="33823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Exam Readiness</a:t>
            </a:r>
            <a:endParaRPr lang="en-US" sz="1650" dirty="0"/>
          </a:p>
        </p:txBody>
      </p:sp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4069" y="1998563"/>
            <a:ext cx="3423557" cy="3423642"/>
          </a:xfrm>
          <a:prstGeom prst="rect">
            <a:avLst/>
          </a:prstGeom>
        </p:spPr>
      </p:pic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88078" y="3377009"/>
            <a:ext cx="254490" cy="254496"/>
          </a:xfrm>
          <a:prstGeom prst="rect">
            <a:avLst/>
          </a:prstGeom>
        </p:spPr>
      </p:pic>
      <p:sp>
        <p:nvSpPr>
          <p:cNvPr id="21" name="Shape 7"/>
          <p:cNvSpPr/>
          <p:nvPr/>
        </p:nvSpPr>
        <p:spPr>
          <a:xfrm>
            <a:off x="661475" y="5594449"/>
            <a:ext cx="10868745" cy="634305"/>
          </a:xfrm>
          <a:prstGeom prst="roundRect">
            <a:avLst>
              <a:gd name="adj" fmla="val 4023"/>
            </a:avLst>
          </a:prstGeom>
          <a:solidFill>
            <a:srgbClr val="1D0C74"/>
          </a:solidFill>
          <a:ln/>
        </p:spPr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532" y="5812631"/>
            <a:ext cx="212620" cy="170061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1214209" y="5790009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PrepPilot doesn't just generate content. It uses learning performance to decide what comes next.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77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Innovations — 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Proposed Adaptive Intelligence Layer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76152"/>
            <a:ext cx="10868745" cy="9072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531" y="1616273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06291" y="1446411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Exam Intelligence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406291" y="1755180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syllabus structure and topic importance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304355"/>
            <a:ext cx="10868745" cy="90725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531" y="2644477"/>
            <a:ext cx="226808" cy="2268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06291" y="2474615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Personal Weakness Map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1406291" y="2783384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weak concepts from performance data</a:t>
            </a:r>
            <a:endParaRPr lang="en-US" sz="11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332559"/>
            <a:ext cx="10868745" cy="907256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9531" y="3672681"/>
            <a:ext cx="226808" cy="22681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406291" y="3502819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Adaptive Practice</a:t>
            </a:r>
            <a:endParaRPr lang="en-US" sz="1450" dirty="0"/>
          </a:p>
        </p:txBody>
      </p:sp>
      <p:sp>
        <p:nvSpPr>
          <p:cNvPr id="14" name="Text 6"/>
          <p:cNvSpPr/>
          <p:nvPr/>
        </p:nvSpPr>
        <p:spPr>
          <a:xfrm>
            <a:off x="1406291" y="3811588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questions toward weak areas automatically</a:t>
            </a:r>
            <a:endParaRPr lang="en-US" sz="11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360763"/>
            <a:ext cx="10868745" cy="907256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9531" y="4700885"/>
            <a:ext cx="226808" cy="226814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406291" y="4531023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Smart Revision</a:t>
            </a:r>
            <a:endParaRPr lang="en-US" sz="1450" dirty="0"/>
          </a:p>
        </p:txBody>
      </p:sp>
      <p:sp>
        <p:nvSpPr>
          <p:cNvPr id="18" name="Text 8"/>
          <p:cNvSpPr/>
          <p:nvPr/>
        </p:nvSpPr>
        <p:spPr>
          <a:xfrm>
            <a:off x="1406291" y="4839791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what to revise and when</a:t>
            </a:r>
            <a:endParaRPr lang="en-US" sz="11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5388967"/>
            <a:ext cx="10868745" cy="907256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9531" y="5729089"/>
            <a:ext cx="226808" cy="22681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406291" y="5559227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Exam Readiness Score</a:t>
            </a:r>
            <a:endParaRPr lang="en-US" sz="1450" dirty="0"/>
          </a:p>
        </p:txBody>
      </p:sp>
      <p:sp>
        <p:nvSpPr>
          <p:cNvPr id="22" name="Text 10"/>
          <p:cNvSpPr/>
          <p:nvPr/>
        </p:nvSpPr>
        <p:spPr>
          <a:xfrm>
            <a:off x="1406291" y="5867995"/>
            <a:ext cx="995367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Topic-by-topic and overall preparation measurement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271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DBMS: From </a:t>
            </a:r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Weakness Detection</a:t>
            </a:r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to Targeted Practice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06240"/>
            <a:ext cx="3434867" cy="2472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52014" y="1506240"/>
            <a:ext cx="1068758" cy="186630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sp>
        <p:nvSpPr>
          <p:cNvPr id="5" name="Text 2"/>
          <p:cNvSpPr/>
          <p:nvPr/>
        </p:nvSpPr>
        <p:spPr>
          <a:xfrm>
            <a:off x="6325632" y="1543050"/>
            <a:ext cx="1531105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TARGETS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52014" y="172472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Transactions + Indexing flagged as critical weak areas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52014" y="1996480"/>
            <a:ext cx="589414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PrepPilot identifies the priority areas, then generates targeted practice automatically.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61475" y="5051921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9" name="Shape 6"/>
          <p:cNvSpPr/>
          <p:nvPr/>
        </p:nvSpPr>
        <p:spPr>
          <a:xfrm>
            <a:off x="3347358" y="4683423"/>
            <a:ext cx="12700" cy="368498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0" name="Shape 7"/>
          <p:cNvSpPr/>
          <p:nvPr/>
        </p:nvSpPr>
        <p:spPr>
          <a:xfrm>
            <a:off x="3215500" y="4913709"/>
            <a:ext cx="276417" cy="27642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3261586" y="493677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84305" y="4158555"/>
            <a:ext cx="51388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42%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4305" y="4398367"/>
            <a:ext cx="513880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Indexing — Baseline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89498" y="5051921"/>
            <a:ext cx="12700" cy="368498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5" name="Shape 12"/>
          <p:cNvSpPr/>
          <p:nvPr/>
        </p:nvSpPr>
        <p:spPr>
          <a:xfrm>
            <a:off x="5957639" y="4913709"/>
            <a:ext cx="276417" cy="27642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6" name="Text 13"/>
          <p:cNvSpPr/>
          <p:nvPr/>
        </p:nvSpPr>
        <p:spPr>
          <a:xfrm>
            <a:off x="6003725" y="493677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526444" y="5543352"/>
            <a:ext cx="51388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61%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26444" y="5783163"/>
            <a:ext cx="513880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targeted practice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831637" y="4683423"/>
            <a:ext cx="12700" cy="368498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0" name="Shape 17"/>
          <p:cNvSpPr/>
          <p:nvPr/>
        </p:nvSpPr>
        <p:spPr>
          <a:xfrm>
            <a:off x="8699778" y="4913709"/>
            <a:ext cx="276417" cy="27642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21" name="Text 18"/>
          <p:cNvSpPr/>
          <p:nvPr/>
        </p:nvSpPr>
        <p:spPr>
          <a:xfrm>
            <a:off x="8745864" y="493677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268583" y="4158555"/>
            <a:ext cx="513880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78%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68583" y="4398367"/>
            <a:ext cx="5138807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adaptive revision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25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</a:t>
            </a:r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Architecture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88" y="2340967"/>
            <a:ext cx="5211930" cy="2937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4309" y="2595476"/>
            <a:ext cx="965305" cy="144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RAG Foundation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74309" y="2780968"/>
            <a:ext cx="965305" cy="219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→ FastAPI → Document pipeline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079298" y="2595476"/>
            <a:ext cx="960170" cy="144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Knowledge Store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79298" y="2780968"/>
            <a:ext cx="960170" cy="219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 with ChromaDB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110332" y="4608931"/>
            <a:ext cx="929363" cy="144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Adaptive Engine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0332" y="4794424"/>
            <a:ext cx="929363" cy="219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&amp; topic analysis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048490" y="4464517"/>
            <a:ext cx="990978" cy="288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Personalized Practice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48490" y="4794424"/>
            <a:ext cx="990978" cy="219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revision and readiness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873802" y="1484709"/>
            <a:ext cx="830043" cy="258465"/>
          </a:xfrm>
          <a:prstGeom prst="roundRect">
            <a:avLst>
              <a:gd name="adj" fmla="val 7898"/>
            </a:avLst>
          </a:prstGeom>
          <a:solidFill>
            <a:srgbClr val="110745"/>
          </a:solidFill>
          <a:ln/>
        </p:spPr>
      </p:sp>
      <p:sp>
        <p:nvSpPr>
          <p:cNvPr id="13" name="Text 10"/>
          <p:cNvSpPr/>
          <p:nvPr/>
        </p:nvSpPr>
        <p:spPr>
          <a:xfrm>
            <a:off x="6975797" y="1535708"/>
            <a:ext cx="123563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4753" y="1896368"/>
            <a:ext cx="2254690" cy="3038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1958" y="1915418"/>
            <a:ext cx="202748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React Frontend</a:t>
            </a:r>
            <a:endParaRPr lang="en-US" sz="16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81682" y="1896368"/>
            <a:ext cx="2254789" cy="3038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8887" y="1915418"/>
            <a:ext cx="202758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FastAPI Backend</a:t>
            </a:r>
            <a:endParaRPr lang="en-US" sz="16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4753" y="2468265"/>
            <a:ext cx="2254690" cy="5695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1958" y="2487315"/>
            <a:ext cx="2027484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Document Processing</a:t>
            </a:r>
            <a:endParaRPr lang="en-US" sz="16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81682" y="2468265"/>
            <a:ext cx="2254789" cy="5695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08887" y="2487315"/>
            <a:ext cx="2027584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Embeddings + ChromaDB</a:t>
            </a:r>
            <a:endParaRPr lang="en-US" sz="16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4753" y="3305870"/>
            <a:ext cx="4681718" cy="3038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81958" y="3324920"/>
            <a:ext cx="445451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RAG + Gemini → AI Study Services</a:t>
            </a:r>
            <a:endParaRPr lang="en-US" sz="1650" dirty="0"/>
          </a:p>
        </p:txBody>
      </p:sp>
      <p:sp>
        <p:nvSpPr>
          <p:cNvPr id="24" name="Shape 16"/>
          <p:cNvSpPr/>
          <p:nvPr/>
        </p:nvSpPr>
        <p:spPr>
          <a:xfrm>
            <a:off x="6873802" y="3762871"/>
            <a:ext cx="940570" cy="25846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975797" y="3813870"/>
            <a:ext cx="1346166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10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4753" y="4174530"/>
            <a:ext cx="2254690" cy="56951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81958" y="4193580"/>
            <a:ext cx="202748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 Engine</a:t>
            </a:r>
            <a:endParaRPr lang="en-US" sz="16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281682" y="4174530"/>
            <a:ext cx="2254789" cy="56951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508887" y="4193580"/>
            <a:ext cx="2027584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Topic / Weakness Analysis</a:t>
            </a:r>
            <a:endParaRPr lang="en-US" sz="16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54753" y="5012134"/>
            <a:ext cx="2254690" cy="56951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081958" y="5031184"/>
            <a:ext cx="2027484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Adaptive Learning Engine</a:t>
            </a:r>
            <a:endParaRPr lang="en-US" sz="16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281682" y="5012134"/>
            <a:ext cx="2254789" cy="56951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508887" y="5031184"/>
            <a:ext cx="2027584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Personalized Practice + Revision</a:t>
            </a:r>
            <a:endParaRPr lang="en-US" sz="165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54753" y="5849739"/>
            <a:ext cx="4681718" cy="30380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081958" y="5868789"/>
            <a:ext cx="445451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Exam Readiness Score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38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Smarter Preparation, 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Not More Content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308398"/>
            <a:ext cx="2577539" cy="1007963"/>
          </a:xfrm>
          <a:prstGeom prst="roundRect">
            <a:avLst>
              <a:gd name="adj" fmla="val 2110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803156" y="1450082"/>
            <a:ext cx="22941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Students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03156" y="1777802"/>
            <a:ext cx="229417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and efficient preparation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45275" y="1308398"/>
            <a:ext cx="2577639" cy="1007963"/>
          </a:xfrm>
          <a:prstGeom prst="roundRect">
            <a:avLst>
              <a:gd name="adj" fmla="val 2110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3486956" y="1450082"/>
            <a:ext cx="22942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Educators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86956" y="1777802"/>
            <a:ext cx="22942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performance insights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2422624"/>
            <a:ext cx="5261439" cy="809526"/>
          </a:xfrm>
          <a:prstGeom prst="roundRect">
            <a:avLst>
              <a:gd name="adj" fmla="val 2627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803156" y="2564309"/>
            <a:ext cx="49780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Institutions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3156" y="2892028"/>
            <a:ext cx="497807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personalized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75131" y="1295102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Roadmap</a:t>
            </a:r>
            <a:endParaRPr lang="en-US" sz="13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8212" y="1640483"/>
            <a:ext cx="212620" cy="21262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35693" y="1636117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Spaced Repetition</a:t>
            </a:r>
            <a:endParaRPr lang="en-US" sz="13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8212" y="2282726"/>
            <a:ext cx="212620" cy="2126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35693" y="2278360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Advanced Analytics</a:t>
            </a:r>
            <a:endParaRPr lang="en-US" sz="13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8212" y="2924969"/>
            <a:ext cx="212620" cy="2126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5693" y="2920603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Voice-Based Learning</a:t>
            </a:r>
            <a:endParaRPr lang="en-US" sz="13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8212" y="3567212"/>
            <a:ext cx="212620" cy="21262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35693" y="3562846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Teacher / Institution Dashboard</a:t>
            </a:r>
            <a:endParaRPr lang="en-US" sz="13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8212" y="4209455"/>
            <a:ext cx="212620" cy="2126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35693" y="4205089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Competitive Examination Support</a:t>
            </a:r>
            <a:endParaRPr lang="en-US" sz="13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28212" y="4851698"/>
            <a:ext cx="212620" cy="21262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35693" y="4847332"/>
            <a:ext cx="4800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Scalability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569303" y="5635625"/>
            <a:ext cx="11265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"PrepPilot doesn't just answer what you ask. It helps you decide what you should learn next."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61475" y="5516066"/>
            <a:ext cx="19050" cy="437555"/>
          </a:xfrm>
          <a:prstGeom prst="roundRect">
            <a:avLst>
              <a:gd name="adj" fmla="val 49999"/>
            </a:avLst>
          </a:prstGeom>
          <a:solidFill>
            <a:srgbClr val="AC9EF5"/>
          </a:solidFill>
          <a:ln/>
        </p:spPr>
      </p:sp>
      <p:sp>
        <p:nvSpPr>
          <p:cNvPr id="27" name="Text 19"/>
          <p:cNvSpPr/>
          <p:nvPr/>
        </p:nvSpPr>
        <p:spPr>
          <a:xfrm>
            <a:off x="356682" y="6073180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2026-08-18T09:18:39Z</dcterms:created>
  <dcterms:modified xsi:type="dcterms:W3CDTF">2026-08-18T09:18:39Z</dcterms:modified>
</cp:coreProperties>
</file>